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D07BE56-4E3C-4A55-B1DE-78899B74E93D}">
  <a:tblStyle styleId="{8D07BE56-4E3C-4A55-B1DE-78899B74E93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h5d951cf3654bc1e4_3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h5d951cf3654bc1e4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h5d951cf3654bc1e4_3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h5d951cf3654bc1e4_3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h5d951cf3654bc1e4_3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h5d951cf3654bc1e4_3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h5d951cf3654bc1e4_3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h5d951cf3654bc1e4_3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h5d951cf3654bc1e4_3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h5d951cf3654bc1e4_3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5d951cf3654bc1e4_3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h5d951cf3654bc1e4_3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h5d951cf3654bc1e4_3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h5d951cf3654bc1e4_3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h5d951cf3654bc1e4_3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h5d951cf3654bc1e4_3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h5d951cf3654bc1e4_3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h5d951cf3654bc1e4_3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CSIS 2430 Project 2 Plan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1537175"/>
            <a:ext cx="8520600" cy="28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Course/Term: CSIS 2430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Project: Project 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Team: Helen Le, Owen Francy, Mustafa Alrubaye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Date: Oct 5th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Due Date: October 25th 2026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Checkpoint/mid-project Date: Oct 18th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173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&amp; Roles</a:t>
            </a:r>
            <a:endParaRPr/>
          </a:p>
        </p:txBody>
      </p:sp>
      <p:graphicFrame>
        <p:nvGraphicFramePr>
          <p:cNvPr id="61" name="Google Shape;61;p14"/>
          <p:cNvGraphicFramePr/>
          <p:nvPr/>
        </p:nvGraphicFramePr>
        <p:xfrm>
          <a:off x="311700" y="746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{8D07BE56-4E3C-4A55-B1DE-78899B74E93D}</a:tableStyleId>
              </a:tblPr>
              <a:tblGrid>
                <a:gridCol w="1409500"/>
                <a:gridCol w="1508950"/>
                <a:gridCol w="2313425"/>
                <a:gridCol w="3515725"/>
              </a:tblGrid>
              <a:tr h="420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Team Member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Role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Primary Responsibilities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Availability/notes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83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Mustafa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Implementation Lead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owns core implementation, integration, and main branch health.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Monday 3:30 - 11 Tuesday 1 - 5 and 7:30 - 11 Wednesday 3:30 - 5 and 10-11 Thursday 1 - 5 and 7:30 - 11 Friday 3:30 - 11 Saturday 3:30 to whenever Sunday 3:30 - 11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83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Helen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Verification Lead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owns test plan, edge cases, and verification evidence.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(work hours not accounted for)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Mon, Wed, Thurs: 12:30 pm - whenever Tues: 12:30 pm - 4:30 pm Fri-Sun: whenever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83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Owen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Communications Lead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owns report assembly, run instructions, and deliverable packaging.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Mon - Thurs: 12 pm - basically whenever Fri: 9 am - 2 pm Sat: 9 am - 12:30 pm and ~10:30 pm - 1 Sun: 8 pm - 12 am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Repository and Access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Platform: GitHub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Repository URL: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Instructor invited as viewer? Not Yet, will count as final submission as well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Repo Structure Requirement (summary): Include /docs with pseudocode,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UML/diagram, design notes; keep updated at checkpoint.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235025"/>
            <a:ext cx="8520600" cy="7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Deadlines</a:t>
            </a:r>
            <a:endParaRPr/>
          </a:p>
        </p:txBody>
      </p:sp>
      <p:graphicFrame>
        <p:nvGraphicFramePr>
          <p:cNvPr id="73" name="Google Shape;73;p16"/>
          <p:cNvGraphicFramePr/>
          <p:nvPr/>
        </p:nvGraphicFramePr>
        <p:xfrm>
          <a:off x="311750" y="1076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{8D07BE56-4E3C-4A55-B1DE-78899B74E93D}</a:tableStyleId>
              </a:tblPr>
              <a:tblGrid>
                <a:gridCol w="1704300"/>
                <a:gridCol w="6997850"/>
              </a:tblGrid>
              <a:tr h="632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</a:rPr>
                        <a:t>Due</a:t>
                      </a:r>
                      <a:endParaRPr sz="1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</a:rPr>
                        <a:t>Assignment</a:t>
                      </a:r>
                      <a:endParaRPr sz="1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50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</a:rPr>
                        <a:t>Oct 11</a:t>
                      </a:r>
                      <a:endParaRPr sz="1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</a:rPr>
                        <a:t>Weekly Status Report Week 1</a:t>
                      </a:r>
                      <a:endParaRPr sz="1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50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</a:rPr>
                        <a:t>Oct 18</a:t>
                      </a:r>
                      <a:endParaRPr sz="1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</a:rPr>
                        <a:t> Weekly Status Report Week 2</a:t>
                      </a:r>
                      <a:endParaRPr sz="1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50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</a:rPr>
                        <a:t>Oct 18</a:t>
                      </a:r>
                      <a:endParaRPr sz="1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</a:rPr>
                        <a:t>Checkpoint</a:t>
                      </a:r>
                      <a:endParaRPr sz="1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50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</a:rPr>
                        <a:t>Oct 25</a:t>
                      </a:r>
                      <a:endParaRPr sz="1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</a:rPr>
                        <a:t>Weekly Status Report Week 3</a:t>
                      </a:r>
                      <a:endParaRPr sz="1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50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</a:rPr>
                        <a:t>Oct 25</a:t>
                      </a:r>
                      <a:endParaRPr sz="1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</a:rPr>
                        <a:t>Peer Review</a:t>
                      </a:r>
                      <a:endParaRPr sz="1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50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</a:rPr>
                        <a:t>Oct 25</a:t>
                      </a:r>
                      <a:endParaRPr sz="1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</a:rPr>
                        <a:t>Set Operations - Project Due</a:t>
                      </a:r>
                      <a:endParaRPr sz="1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Milestones (Timeline)</a:t>
            </a:r>
            <a:endParaRPr/>
          </a:p>
        </p:txBody>
      </p:sp>
      <p:graphicFrame>
        <p:nvGraphicFramePr>
          <p:cNvPr id="79" name="Google Shape;79;p17"/>
          <p:cNvGraphicFramePr/>
          <p:nvPr/>
        </p:nvGraphicFramePr>
        <p:xfrm>
          <a:off x="311750" y="1076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{8D07BE56-4E3C-4A55-B1DE-78899B74E93D}</a:tableStyleId>
              </a:tblPr>
              <a:tblGrid>
                <a:gridCol w="861825"/>
                <a:gridCol w="2615475"/>
                <a:gridCol w="1738650"/>
                <a:gridCol w="1738650"/>
                <a:gridCol w="1738650"/>
              </a:tblGrid>
              <a:tr h="385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Target date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Milestone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Definition of Done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Status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Evidence Pointer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313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Oct 11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Repo set up + running skeleton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Repo is made &amp; there is a runnable skeleton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D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CS2430-Project-2/src/…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68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Oct 16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Core implementation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Required features implemented; compiles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D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CS2430-Project-2/src/…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86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Oct 18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Verification (testing)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Edge cases are covered; document actual vs expected results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IP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52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Oct 23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Report/Video drafts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Report draft done; video outline/script notes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NS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16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Oct 25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Final integration + submission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All deliverables ready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NS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0" y="-85100"/>
            <a:ext cx="8499000" cy="4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46698"/>
              <a:buNone/>
            </a:pPr>
            <a:r>
              <a:rPr lang="en" sz="2120"/>
              <a:t>Task Backlog (Assignments + Status)</a:t>
            </a:r>
            <a:endParaRPr sz="2120"/>
          </a:p>
        </p:txBody>
      </p:sp>
      <p:graphicFrame>
        <p:nvGraphicFramePr>
          <p:cNvPr id="85" name="Google Shape;85;p18"/>
          <p:cNvGraphicFramePr/>
          <p:nvPr/>
        </p:nvGraphicFramePr>
        <p:xfrm>
          <a:off x="24275" y="367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{8D07BE56-4E3C-4A55-B1DE-78899B74E93D}</a:tableStyleId>
              </a:tblPr>
              <a:tblGrid>
                <a:gridCol w="382850"/>
                <a:gridCol w="3192150"/>
                <a:gridCol w="648475"/>
                <a:gridCol w="838325"/>
                <a:gridCol w="648525"/>
                <a:gridCol w="1706125"/>
                <a:gridCol w="1679000"/>
              </a:tblGrid>
              <a:tr h="358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ID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Task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Owner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Due Date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Status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Evidence Link/Pointer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Notes/Dependencies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</a:tr>
              <a:tr h="394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Create Repo (</a:t>
                      </a:r>
                      <a:r>
                        <a:rPr lang="en" sz="10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contains runnable skeleton + current implementation branch</a:t>
                      </a:r>
                      <a:r>
                        <a:rPr lang="en" sz="1000">
                          <a:solidFill>
                            <a:schemeClr val="dk1"/>
                          </a:solidFill>
                        </a:rPr>
                        <a:t>)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Mustafa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94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UML diagram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Mustafa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10/18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/docs/proj_1_uml.png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94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Pseudocode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Mustafa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10/18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/docs/proj_d_pseudocode.md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94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/docs folder with Project Plan and 2 design artifacts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Team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10/18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/docs/…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401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Verification Plan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Helen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10/18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/docs/CSIS2430_Project2_Plan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401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Verification Testing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Helen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10/20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IP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94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Team report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10/23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94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Team screencast video (&lt;=10mins)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10/23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94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Team code package.zip containing: all src code, README, CONTRIBUTIONS.md</a:t>
                      </a:r>
                      <a:r>
                        <a:rPr lang="en" sz="10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, data output files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Owen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10/25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Verification Plan (Verification Lead)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 sz="1300">
                <a:solidFill>
                  <a:schemeClr val="dk1"/>
                </a:solidFill>
              </a:rPr>
              <a:t>Correctness checks / tests to run</a:t>
            </a:r>
            <a:endParaRPr sz="1300">
              <a:solidFill>
                <a:schemeClr val="dk1"/>
              </a:solidFill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-"/>
            </a:pPr>
            <a:r>
              <a:rPr lang="en" sz="1300">
                <a:solidFill>
                  <a:schemeClr val="dk1"/>
                </a:solidFill>
              </a:rPr>
              <a:t>Unit test for core set, multiset, and fuzzy set operations (NOT(A), A ∪ B, A ∩ B, A - B, A ⊕ B).</a:t>
            </a:r>
            <a:endParaRPr sz="1300">
              <a:solidFill>
                <a:schemeClr val="dk1"/>
              </a:solidFill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-"/>
            </a:pPr>
            <a:r>
              <a:rPr lang="en" sz="1300">
                <a:solidFill>
                  <a:schemeClr val="dk1"/>
                </a:solidFill>
              </a:rPr>
              <a:t>Verify that Universal set generates with n &gt;= 10 elements.</a:t>
            </a:r>
            <a:endParaRPr sz="1300">
              <a:solidFill>
                <a:schemeClr val="dk1"/>
              </a:solidFill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-"/>
            </a:pPr>
            <a:r>
              <a:rPr lang="en" sz="1300">
                <a:solidFill>
                  <a:schemeClr val="dk1"/>
                </a:solidFill>
              </a:rPr>
              <a:t>Verify that the ordinary sets using bit strings/boolean arrays display both bit string/boolean array and element-name listing.</a:t>
            </a:r>
            <a:endParaRPr sz="1300">
              <a:solidFill>
                <a:schemeClr val="dk1"/>
              </a:solidFill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-"/>
            </a:pPr>
            <a:r>
              <a:rPr lang="en" sz="1300">
                <a:solidFill>
                  <a:schemeClr val="dk1"/>
                </a:solidFill>
              </a:rPr>
              <a:t>Verify fuzzy sets output as expected with different </a:t>
            </a:r>
            <a:r>
              <a:rPr lang="en" sz="1300">
                <a:solidFill>
                  <a:schemeClr val="dk1"/>
                </a:solidFill>
              </a:rPr>
              <a:t>membership</a:t>
            </a:r>
            <a:r>
              <a:rPr lang="en" sz="1300">
                <a:solidFill>
                  <a:schemeClr val="dk1"/>
                </a:solidFill>
              </a:rPr>
              <a:t> values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 sz="1300">
                <a:solidFill>
                  <a:schemeClr val="dk1"/>
                </a:solidFill>
              </a:rPr>
              <a:t>Edge cases to verify</a:t>
            </a:r>
            <a:endParaRPr sz="1300">
              <a:solidFill>
                <a:schemeClr val="dk1"/>
              </a:solidFill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-"/>
            </a:pPr>
            <a:r>
              <a:rPr lang="en" sz="1300">
                <a:solidFill>
                  <a:schemeClr val="dk1"/>
                </a:solidFill>
              </a:rPr>
              <a:t>Empty set</a:t>
            </a:r>
            <a:endParaRPr sz="1300">
              <a:solidFill>
                <a:schemeClr val="dk1"/>
              </a:solidFill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-"/>
            </a:pPr>
            <a:r>
              <a:rPr lang="en" sz="1300">
                <a:solidFill>
                  <a:schemeClr val="dk1"/>
                </a:solidFill>
              </a:rPr>
              <a:t>Sets with no overlapping elements or all identical elements</a:t>
            </a:r>
            <a:endParaRPr sz="1300">
              <a:solidFill>
                <a:schemeClr val="dk1"/>
              </a:solidFill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-"/>
            </a:pPr>
            <a:r>
              <a:rPr lang="en" sz="1300">
                <a:solidFill>
                  <a:schemeClr val="dk1"/>
                </a:solidFill>
              </a:rPr>
              <a:t>Multisets with duplicated elements of different sizes</a:t>
            </a:r>
            <a:endParaRPr sz="1300">
              <a:solidFill>
                <a:schemeClr val="dk1"/>
              </a:solidFill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-"/>
            </a:pPr>
            <a:r>
              <a:rPr lang="en" sz="1300">
                <a:solidFill>
                  <a:schemeClr val="dk1"/>
                </a:solidFill>
              </a:rPr>
              <a:t>Fuzzy sets: with values 0 and 1; with values in between 0 and 1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3. Expected vs. actual outputs</a:t>
            </a:r>
            <a:endParaRPr sz="1300">
              <a:solidFill>
                <a:schemeClr val="dk1"/>
              </a:solidFill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-"/>
            </a:pPr>
            <a:r>
              <a:rPr lang="en" sz="1300">
                <a:solidFill>
                  <a:schemeClr val="dk1"/>
                </a:solidFill>
              </a:rPr>
              <a:t>Bit string/boolean array and element-name are output</a:t>
            </a:r>
            <a:endParaRPr sz="1300">
              <a:solidFill>
                <a:schemeClr val="dk1"/>
              </a:solidFill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-"/>
            </a:pPr>
            <a:r>
              <a:rPr lang="en" sz="1300">
                <a:solidFill>
                  <a:schemeClr val="dk1"/>
                </a:solidFill>
              </a:rPr>
              <a:t>Element actual counts match expected counts for multisets</a:t>
            </a:r>
            <a:endParaRPr sz="1300">
              <a:solidFill>
                <a:schemeClr val="dk1"/>
              </a:solidFill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-"/>
            </a:pPr>
            <a:r>
              <a:rPr lang="en" sz="1300">
                <a:solidFill>
                  <a:schemeClr val="dk1"/>
                </a:solidFill>
              </a:rPr>
              <a:t>Fuzzy set actual memberships matches expected memberships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Risks/Blockers</a:t>
            </a:r>
            <a:endParaRPr/>
          </a:p>
        </p:txBody>
      </p:sp>
      <p:graphicFrame>
        <p:nvGraphicFramePr>
          <p:cNvPr id="97" name="Google Shape;97;p20"/>
          <p:cNvGraphicFramePr/>
          <p:nvPr/>
        </p:nvGraphicFramePr>
        <p:xfrm>
          <a:off x="254525" y="1836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{8D07BE56-4E3C-4A55-B1DE-78899B74E93D}</a:tableStyleId>
              </a:tblPr>
              <a:tblGrid>
                <a:gridCol w="3111400"/>
                <a:gridCol w="949850"/>
                <a:gridCol w="2521875"/>
                <a:gridCol w="1333050"/>
                <a:gridCol w="812300"/>
              </a:tblGrid>
              <a:tr h="389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Risk/Blocker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Impact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Mitigation Plan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Owner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Status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74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74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74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148000" y="74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Update Log</a:t>
            </a:r>
            <a:endParaRPr/>
          </a:p>
        </p:txBody>
      </p:sp>
      <p:graphicFrame>
        <p:nvGraphicFramePr>
          <p:cNvPr id="103" name="Google Shape;103;p21"/>
          <p:cNvGraphicFramePr/>
          <p:nvPr/>
        </p:nvGraphicFramePr>
        <p:xfrm>
          <a:off x="148000" y="647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{8D07BE56-4E3C-4A55-B1DE-78899B74E93D}</a:tableStyleId>
              </a:tblPr>
              <a:tblGrid>
                <a:gridCol w="1767800"/>
                <a:gridCol w="1767800"/>
                <a:gridCol w="1767800"/>
                <a:gridCol w="1767800"/>
                <a:gridCol w="1767800"/>
              </a:tblGrid>
              <a:tr h="582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Date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Update Summary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Blockers/Resolution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Owner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Evidence Pointers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44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Oct 4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Repo created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Mustafa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CS2430-Project-2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44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Oct 11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UML Diagram made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Mustafa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/docs/proj_1_uml.png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44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Oct 12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Pseudocode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Mustafa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/docs/proj_d_pseudocode.md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44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JUnit tests created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44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Report created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44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Videos made and stitched together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4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Deliverables packaged for submission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